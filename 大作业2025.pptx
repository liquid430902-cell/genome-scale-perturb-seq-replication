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049" r:id="rId2"/>
    <p:sldId id="6209" r:id="rId3"/>
    <p:sldId id="650" r:id="rId4"/>
    <p:sldId id="2050" r:id="rId5"/>
    <p:sldId id="2051" r:id="rId6"/>
    <p:sldId id="2070" r:id="rId7"/>
    <p:sldId id="6207" r:id="rId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ston life" initials="bl" lastIdx="1" clrIdx="0"/>
  <p:cmAuthor id="2" name="Cheng Li" initials="LiC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0033CC"/>
    <a:srgbClr val="DDDD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6" autoAdjust="0"/>
    <p:restoredTop sz="86407" autoAdjust="0"/>
  </p:normalViewPr>
  <p:slideViewPr>
    <p:cSldViewPr showGuides="1">
      <p:cViewPr varScale="1">
        <p:scale>
          <a:sx n="195" d="100"/>
          <a:sy n="195" d="100"/>
        </p:scale>
        <p:origin x="3248" y="184"/>
      </p:cViewPr>
      <p:guideLst>
        <p:guide orient="horz" pos="2160"/>
        <p:guide pos="2904"/>
      </p:guideLst>
    </p:cSldViewPr>
  </p:slideViewPr>
  <p:outlineViewPr>
    <p:cViewPr>
      <p:scale>
        <a:sx n="33" d="100"/>
        <a:sy n="33" d="100"/>
      </p:scale>
      <p:origin x="0" y="-3295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0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364BC5-F8C5-4D32-9CD9-1CD80000E1DD}" type="datetimeFigureOut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2"/>
            <a:ext cx="3170138" cy="4795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E0751-BE1B-40FD-B5E4-FEDFC106C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defRPr sz="1300"/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8" y="1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defRPr sz="1300"/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defRPr sz="1300"/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8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sz="1300"/>
            </a:lvl1pPr>
          </a:lstStyle>
          <a:p>
            <a:fld id="{C1D219A0-BB7E-40C7-B1AA-16FFC2FB05A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200" b="0" i="0" kern="1200" dirty="0">
              <a:solidFill>
                <a:schemeClr val="tx1"/>
              </a:solidFill>
              <a:effectLst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D219A0-BB7E-40C7-B1AA-16FFC2FB05A2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D219A0-BB7E-40C7-B1AA-16FFC2FB05A2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D219A0-BB7E-40C7-B1AA-16FFC2FB05A2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D219A0-BB7E-40C7-B1AA-16FFC2FB05A2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219A0-BB7E-40C7-B1AA-16FFC2FB05A2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1371600" y="332471"/>
            <a:ext cx="6477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方正兰亭黑简体" panose="02000000000000000000" charset="-122"/>
                <a:ea typeface="方正兰亭黑简体" panose="02000000000000000000" charset="-122"/>
              </a:rPr>
              <a:t>本节内容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2514600" y="1659285"/>
            <a:ext cx="518160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类别数据举例</a:t>
            </a:r>
            <a:endParaRPr lang="en-US" altLang="zh-CN" sz="2800" dirty="0">
              <a:latin typeface="方正兰亭黑简体" panose="02000000000000000000" charset="-122"/>
              <a:ea typeface="方正兰亭黑简体" panose="020000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基因功能富集分析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类</a:t>
            </a: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  <a:sym typeface="+mn-ea"/>
              </a:rPr>
              <a:t>别</a:t>
            </a: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数据的</a:t>
            </a:r>
            <a:r>
              <a:rPr lang="zh-CN" altLang="en-US" sz="2800" b="1" dirty="0">
                <a:solidFill>
                  <a:srgbClr val="7030A0"/>
                </a:solidFill>
                <a:latin typeface="方正兰亭黑简体" panose="02000000000000000000" charset="-122"/>
                <a:ea typeface="方正兰亭黑简体" panose="02000000000000000000" charset="-122"/>
              </a:rPr>
              <a:t>统计检验</a:t>
            </a:r>
            <a:endParaRPr lang="en-US" altLang="zh-CN" sz="2800" b="1" dirty="0">
              <a:latin typeface="方正兰亭黑简体" panose="02000000000000000000" charset="-122"/>
              <a:ea typeface="方正兰亭黑简体" panose="02000000000000000000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统计</a:t>
            </a:r>
            <a:r>
              <a:rPr lang="zh-CN" altLang="en-US" sz="2800" b="1" dirty="0">
                <a:solidFill>
                  <a:srgbClr val="7030A0"/>
                </a:solidFill>
                <a:latin typeface="方正兰亭黑简体" panose="02000000000000000000" charset="-122"/>
                <a:ea typeface="方正兰亭黑简体" panose="02000000000000000000" charset="-122"/>
              </a:rPr>
              <a:t>陷阱</a:t>
            </a: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：辛普森悖论</a:t>
            </a:r>
            <a:endParaRPr lang="en-US" altLang="zh-CN" sz="2800" dirty="0">
              <a:latin typeface="方正兰亭黑简体" panose="02000000000000000000" charset="-122"/>
              <a:ea typeface="方正兰亭黑简体" panose="020000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统计</a:t>
            </a:r>
            <a:r>
              <a:rPr lang="zh-CN" altLang="en-US" sz="2800" b="1" dirty="0">
                <a:solidFill>
                  <a:srgbClr val="7030A0"/>
                </a:solidFill>
                <a:latin typeface="方正兰亭黑简体" panose="02000000000000000000" charset="-122"/>
                <a:ea typeface="方正兰亭黑简体" panose="02000000000000000000" charset="-122"/>
              </a:rPr>
              <a:t>作图</a:t>
            </a: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：富集作图</a:t>
            </a:r>
            <a:endParaRPr lang="en-US" altLang="zh-CN" sz="2800" dirty="0">
              <a:latin typeface="方正兰亭黑简体" panose="02000000000000000000" charset="-122"/>
              <a:ea typeface="方正兰亭黑简体" panose="02000000000000000000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方正兰亭黑简体" panose="02000000000000000000" charset="-122"/>
                <a:ea typeface="方正兰亭黑简体" panose="02000000000000000000" charset="-122"/>
              </a:rPr>
              <a:t>富集分析软件</a:t>
            </a:r>
            <a:endParaRPr lang="en-US" altLang="zh-CN" sz="2800" dirty="0">
              <a:latin typeface="方正兰亭黑简体" panose="02000000000000000000" charset="-122"/>
              <a:ea typeface="方正兰亭黑简体" panose="02000000000000000000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639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059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CFDA2771-B4D5-4E66-9E63-9B4D4C22C6F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cbi.nlm.nih.gov/geo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ncbi.nlm.nih.gov/geo/query/acc.cgi?acc=GSE61533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hare.weiyun.com/HTe8f2ey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g9olqJpaSxw2cBR32m_Gt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oteinatlas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课程大作业布置：任务与目标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900" y="1219200"/>
            <a:ext cx="8572500" cy="5293809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/>
              <a:t>结合课程所介绍的数据类型、统计分析及做图方法，选择一个或多个</a:t>
            </a:r>
            <a:r>
              <a:rPr lang="zh-CN" altLang="en-US" sz="1800" dirty="0">
                <a:solidFill>
                  <a:srgbClr val="7030A0"/>
                </a:solidFill>
              </a:rPr>
              <a:t>组学数据集</a:t>
            </a:r>
            <a:r>
              <a:rPr lang="zh-CN" altLang="en-US" sz="1800" dirty="0"/>
              <a:t>进行分析（使用</a:t>
            </a:r>
            <a:r>
              <a:rPr lang="en-US" altLang="zh-CN" sz="1800" dirty="0"/>
              <a:t>R</a:t>
            </a:r>
            <a:r>
              <a:rPr lang="zh-CN" altLang="en-US" sz="1800" dirty="0"/>
              <a:t>语言或其他语言），使用多种分析方法和做图类型，</a:t>
            </a:r>
            <a:r>
              <a:rPr lang="zh-CN" altLang="en-US" sz="1800" dirty="0">
                <a:solidFill>
                  <a:srgbClr val="7030A0"/>
                </a:solidFill>
              </a:rPr>
              <a:t>提出和回答科学问题</a:t>
            </a:r>
            <a:r>
              <a:rPr lang="zh-CN" altLang="en-US" sz="1800" dirty="0"/>
              <a:t>。</a:t>
            </a:r>
            <a:r>
              <a:rPr lang="zh-CN" altLang="en-US" sz="1800" b="1" dirty="0"/>
              <a:t>任务</a:t>
            </a:r>
            <a:r>
              <a:rPr lang="en-US" altLang="zh-CN" sz="1800" b="1" dirty="0"/>
              <a:t>A - C</a:t>
            </a:r>
            <a:r>
              <a:rPr lang="zh-CN" altLang="en-US" sz="1800" b="1" dirty="0"/>
              <a:t>完成一项即可</a:t>
            </a:r>
            <a:r>
              <a:rPr lang="zh-CN" altLang="en-US" sz="1800" dirty="0"/>
              <a:t>。报告中标明选择的任务类型。</a:t>
            </a:r>
          </a:p>
          <a:p>
            <a:pPr marL="0" indent="0">
              <a:lnSpc>
                <a:spcPct val="110000"/>
              </a:lnSpc>
              <a:buNone/>
            </a:pPr>
            <a:endParaRPr lang="en-US" altLang="zh-CN" sz="1800" dirty="0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任务</a:t>
            </a:r>
            <a:r>
              <a:rPr lang="en-US" altLang="zh-CN" sz="1800" b="1" dirty="0">
                <a:solidFill>
                  <a:srgbClr val="C00000"/>
                </a:solidFill>
              </a:rPr>
              <a:t>A</a:t>
            </a:r>
            <a:r>
              <a:rPr lang="zh-CN" altLang="en-US" sz="1800" dirty="0"/>
              <a:t>：从感兴趣的研究方向中选择文献阅读。选择一篇分析方法有代表性、组学数据可下载的论文。可在</a:t>
            </a:r>
            <a:r>
              <a:rPr lang="en-US" altLang="zh-CN" sz="1800" u="sng" dirty="0">
                <a:hlinkClick r:id="rId3"/>
              </a:rPr>
              <a:t>GEO</a:t>
            </a:r>
            <a:r>
              <a:rPr lang="zh-CN" altLang="en-US" sz="1800" u="sng" dirty="0">
                <a:hlinkClick r:id="rId3"/>
              </a:rPr>
              <a:t>数据库</a:t>
            </a:r>
            <a:r>
              <a:rPr lang="zh-CN" altLang="en-US" sz="1800" dirty="0"/>
              <a:t>中搜索，下载数据页面下方的</a:t>
            </a:r>
            <a:r>
              <a:rPr lang="en-US" altLang="zh-CN" sz="1800" dirty="0"/>
              <a:t>series matrix file</a:t>
            </a:r>
            <a:r>
              <a:rPr lang="zh-CN" altLang="en-US" sz="1800" dirty="0"/>
              <a:t>、</a:t>
            </a:r>
            <a:r>
              <a:rPr lang="en-US" altLang="zh-CN" sz="1800" dirty="0"/>
              <a:t>supplementary file</a:t>
            </a:r>
            <a:r>
              <a:rPr lang="zh-CN" altLang="en-US" sz="1800" dirty="0"/>
              <a:t>或原始测序数据开始分析，例如</a:t>
            </a:r>
            <a:r>
              <a:rPr lang="en-US" altLang="zh-CN" sz="1800" dirty="0">
                <a:hlinkClick r:id="rId4"/>
              </a:rPr>
              <a:t>https://www.ncbi.nlm.nih.gov/geo/query/acc.cgi?acc=GSE61533</a:t>
            </a:r>
            <a:r>
              <a:rPr lang="zh-CN" altLang="en-US" sz="1800" dirty="0"/>
              <a:t>。仔细阅读论文的</a:t>
            </a:r>
            <a:r>
              <a:rPr lang="zh-CN" altLang="en-US" sz="1800" dirty="0">
                <a:solidFill>
                  <a:srgbClr val="7030A0"/>
                </a:solidFill>
              </a:rPr>
              <a:t>方法部分和补充材料中的分析方法</a:t>
            </a:r>
            <a:r>
              <a:rPr lang="zh-CN" altLang="en-US" sz="1800" dirty="0"/>
              <a:t>，从尽可能原始的数据开始做数据处理、分析和做图，目标是</a:t>
            </a:r>
            <a:r>
              <a:rPr lang="zh-CN" altLang="en-US" sz="1800" dirty="0">
                <a:solidFill>
                  <a:srgbClr val="7030A0"/>
                </a:solidFill>
              </a:rPr>
              <a:t>自己做出论文中的一部分图表并与它们比较</a:t>
            </a:r>
            <a:r>
              <a:rPr lang="zh-CN" altLang="en-US" sz="1800" dirty="0"/>
              <a:t>。</a:t>
            </a:r>
            <a:br>
              <a:rPr lang="en-US" altLang="zh-CN" sz="1800" dirty="0"/>
            </a:br>
            <a:endParaRPr lang="en-US" altLang="zh-CN" sz="1800" dirty="0"/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任务</a:t>
            </a:r>
            <a:r>
              <a:rPr lang="en-US" altLang="zh-CN" sz="1800" b="1" dirty="0">
                <a:solidFill>
                  <a:srgbClr val="C00000"/>
                </a:solidFill>
              </a:rPr>
              <a:t>B</a:t>
            </a:r>
            <a:r>
              <a:rPr lang="zh-CN" altLang="en-US" sz="1800" dirty="0"/>
              <a:t>：对多篇文献完成</a:t>
            </a:r>
            <a:r>
              <a:rPr lang="zh-CN" altLang="en-US" sz="1800" b="1" dirty="0"/>
              <a:t>任务</a:t>
            </a:r>
            <a:r>
              <a:rPr lang="en-US" altLang="zh-CN" sz="1800" b="1" dirty="0"/>
              <a:t>A</a:t>
            </a:r>
            <a:r>
              <a:rPr lang="zh-CN" altLang="en-US" sz="1800" dirty="0"/>
              <a:t>，并</a:t>
            </a:r>
            <a:r>
              <a:rPr lang="zh-CN" altLang="en-US" sz="1800" dirty="0">
                <a:solidFill>
                  <a:srgbClr val="7030A0"/>
                </a:solidFill>
              </a:rPr>
              <a:t>整合不同文献的组学数据</a:t>
            </a:r>
            <a:r>
              <a:rPr lang="zh-CN" altLang="en-US" sz="1800" dirty="0"/>
              <a:t>（例如相近样本的转录组、染色质开放性、</a:t>
            </a:r>
            <a:r>
              <a:rPr lang="en-US" altLang="zh-CN" sz="1800" dirty="0"/>
              <a:t> </a:t>
            </a:r>
            <a:r>
              <a:rPr lang="en-US" altLang="zh-CN" sz="1800" dirty="0" err="1"/>
              <a:t>ChIP</a:t>
            </a:r>
            <a:r>
              <a:rPr lang="en-US" altLang="zh-CN" sz="1800" dirty="0"/>
              <a:t>-seq</a:t>
            </a:r>
            <a:r>
              <a:rPr lang="zh-CN" altLang="en-US" sz="1800" dirty="0"/>
              <a:t>、甲基化组数据），提出和回答新的科学问题。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b="1" dirty="0">
                <a:solidFill>
                  <a:srgbClr val="C00000"/>
                </a:solidFill>
              </a:rPr>
              <a:t>任务</a:t>
            </a:r>
            <a:r>
              <a:rPr lang="en-US" altLang="zh-CN" sz="1800" b="1" dirty="0">
                <a:solidFill>
                  <a:srgbClr val="C00000"/>
                </a:solidFill>
              </a:rPr>
              <a:t>C</a:t>
            </a:r>
            <a:r>
              <a:rPr lang="zh-CN" altLang="en-US" sz="1800" dirty="0"/>
              <a:t>：使用自己研究课题中的数据集（</a:t>
            </a:r>
            <a:r>
              <a:rPr lang="zh-CN" altLang="en-US" sz="1800" dirty="0">
                <a:solidFill>
                  <a:srgbClr val="7030A0"/>
                </a:solidFill>
              </a:rPr>
              <a:t>需征得</a:t>
            </a:r>
            <a:r>
              <a:rPr lang="en-US" altLang="zh-CN" sz="1800" dirty="0">
                <a:solidFill>
                  <a:srgbClr val="7030A0"/>
                </a:solidFill>
              </a:rPr>
              <a:t>Lab</a:t>
            </a:r>
            <a:r>
              <a:rPr lang="zh-CN" altLang="en-US" sz="1800" dirty="0">
                <a:solidFill>
                  <a:srgbClr val="7030A0"/>
                </a:solidFill>
              </a:rPr>
              <a:t>导师同意，并在提交的报告中对敏感信息做保密化处理</a:t>
            </a:r>
            <a:r>
              <a:rPr lang="zh-CN" altLang="en-US" sz="1800" dirty="0"/>
              <a:t>），单独分析或与公共数据做整合分析。选择一篇相似数据类型的文献，参考其分析思路和方法。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894080"/>
          </a:xfrm>
        </p:spPr>
        <p:txBody>
          <a:bodyPr/>
          <a:lstStyle/>
          <a:p>
            <a:pPr lvl="1"/>
            <a:r>
              <a:rPr lang="zh-CN" altLang="en-US" sz="3600" dirty="0"/>
              <a:t>组队与口头报告</a:t>
            </a:r>
            <a:br>
              <a:rPr lang="en-US" altLang="zh-CN" sz="3600" dirty="0"/>
            </a:br>
            <a:endParaRPr lang="en-US" altLang="zh-CN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43000"/>
            <a:ext cx="8458200" cy="5033645"/>
          </a:xfrm>
        </p:spPr>
        <p:txBody>
          <a:bodyPr/>
          <a:lstStyle/>
          <a:p>
            <a:pPr marL="57150"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200" b="1" dirty="0">
                <a:sym typeface="+mn-ea"/>
              </a:rPr>
              <a:t>组队</a:t>
            </a:r>
            <a:r>
              <a:rPr lang="zh-CN" altLang="en-US" sz="2200" dirty="0">
                <a:sym typeface="+mn-ea"/>
              </a:rPr>
              <a:t>：不超过</a:t>
            </a:r>
            <a:r>
              <a:rPr lang="en-US" altLang="zh-CN" sz="2200" dirty="0">
                <a:sym typeface="+mn-ea"/>
              </a:rPr>
              <a:t>3</a:t>
            </a:r>
            <a:r>
              <a:rPr lang="zh-CN" altLang="en-US" sz="2200" dirty="0">
                <a:sym typeface="+mn-ea"/>
              </a:rPr>
              <a:t>位同学位为一组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b="1" dirty="0">
                <a:sym typeface="+mn-ea"/>
              </a:rPr>
              <a:t>2025.12.2</a:t>
            </a:r>
            <a:r>
              <a:rPr lang="zh-CN" altLang="en-US" b="1" dirty="0">
                <a:sym typeface="+mn-ea"/>
              </a:rPr>
              <a:t>日</a:t>
            </a:r>
            <a:r>
              <a:rPr lang="zh-CN" altLang="en-US" dirty="0">
                <a:sym typeface="+mn-ea"/>
              </a:rPr>
              <a:t>前完成）</a:t>
            </a:r>
            <a:endParaRPr lang="en-US" altLang="zh-CN" dirty="0"/>
          </a:p>
          <a:p>
            <a:pPr lvl="1">
              <a:spcBef>
                <a:spcPts val="0"/>
              </a:spcBef>
            </a:pPr>
            <a:r>
              <a:rPr lang="zh-CN" altLang="en-US" sz="2000" dirty="0">
                <a:sym typeface="+mn-ea"/>
              </a:rPr>
              <a:t>使用腾讯文档登记组队信息</a:t>
            </a:r>
            <a:endParaRPr lang="en-US" altLang="zh-CN" sz="2000" dirty="0"/>
          </a:p>
          <a:p>
            <a:pPr lvl="1"/>
            <a:r>
              <a:rPr lang="zh-CN" altLang="en-US" sz="2000" dirty="0">
                <a:sym typeface="+mn-ea"/>
              </a:rPr>
              <a:t>在课程微信群里介绍自己的背景和擅长的技能（如文献调研、数据分析、报告写作等）、候选课题信息，</a:t>
            </a:r>
            <a:r>
              <a:rPr lang="zh-CN" altLang="en-US" sz="2000" dirty="0">
                <a:solidFill>
                  <a:srgbClr val="7030A0"/>
                </a:solidFill>
                <a:sym typeface="+mn-ea"/>
              </a:rPr>
              <a:t>组建课题团队</a:t>
            </a:r>
            <a:r>
              <a:rPr lang="zh-CN" altLang="en-US" sz="2000" dirty="0">
                <a:sym typeface="+mn-ea"/>
              </a:rPr>
              <a:t>并选举组长</a:t>
            </a:r>
            <a:endParaRPr lang="en-US" altLang="zh-CN" sz="2000" dirty="0"/>
          </a:p>
          <a:p>
            <a:pPr>
              <a:spcBef>
                <a:spcPts val="0"/>
              </a:spcBef>
            </a:pPr>
            <a:endParaRPr lang="en-US" altLang="zh-CN" sz="28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200" b="1" dirty="0"/>
              <a:t>口头报告</a:t>
            </a:r>
            <a:r>
              <a:rPr lang="zh-CN" altLang="en-US" sz="2200" dirty="0"/>
              <a:t>（</a:t>
            </a:r>
            <a:r>
              <a:rPr lang="en-US" altLang="zh-CN" sz="2200" dirty="0"/>
              <a:t>20%</a:t>
            </a:r>
            <a:r>
              <a:rPr lang="zh-CN" altLang="en-US" sz="2200" dirty="0"/>
              <a:t>课程成绩，</a:t>
            </a:r>
            <a:r>
              <a:rPr lang="en-US" altLang="zh-CN" sz="2200" b="1" dirty="0">
                <a:sym typeface="+mn-ea"/>
              </a:rPr>
              <a:t>2025.12.16</a:t>
            </a:r>
            <a:r>
              <a:rPr lang="zh-CN" altLang="en-US" sz="2200" b="1" dirty="0"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200" b="1" dirty="0">
                <a:ea typeface="宋体" panose="02010600030101010101" pitchFamily="2" charset="-122"/>
                <a:sym typeface="+mn-ea"/>
              </a:rPr>
              <a:t>23</a:t>
            </a:r>
            <a:r>
              <a:rPr lang="zh-CN" altLang="en-US" sz="2200" b="1" dirty="0">
                <a:ea typeface="宋体" panose="02010600030101010101" pitchFamily="2" charset="-122"/>
                <a:sym typeface="+mn-ea"/>
              </a:rPr>
              <a:t>日，</a:t>
            </a:r>
            <a:r>
              <a:rPr lang="zh-CN" altLang="en-US" sz="2200" dirty="0">
                <a:ea typeface="宋体" panose="02010600030101010101" pitchFamily="2" charset="-122"/>
                <a:sym typeface="+mn-ea"/>
              </a:rPr>
              <a:t>随机安排报告时间</a:t>
            </a:r>
            <a:r>
              <a:rPr lang="zh-CN" altLang="en-US" sz="2200" dirty="0"/>
              <a:t>）：</a:t>
            </a:r>
            <a:endParaRPr lang="en-US" altLang="zh-CN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课题背景、科学问题的提出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组学数据的类型和描述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计划的数据质控方法、分析方法和作图类型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如果计划做湿实验验证，说明验证体系和方法</a:t>
            </a:r>
            <a:endParaRPr lang="en-US" altLang="zh-CN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预期对科学问题的研究结果、预期的困难和解决方案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/>
              <a:t>如果有初步分析结果，可以展示</a:t>
            </a:r>
            <a:endParaRPr lang="en-US" altLang="zh-CN" sz="2000" dirty="0"/>
          </a:p>
          <a:p>
            <a:pPr>
              <a:spcBef>
                <a:spcPts val="0"/>
              </a:spcBef>
            </a:pPr>
            <a:endParaRPr lang="zh-CN" altLang="en-US" sz="2000" b="1" dirty="0">
              <a:solidFill>
                <a:schemeClr val="accent6"/>
              </a:solidFill>
              <a:sym typeface="+mn-ea"/>
            </a:endParaRPr>
          </a:p>
          <a:p>
            <a:pPr>
              <a:spcBef>
                <a:spcPts val="0"/>
              </a:spcBef>
            </a:pPr>
            <a:r>
              <a:rPr lang="zh-CN" altLang="en-US" sz="2000" b="1" dirty="0">
                <a:solidFill>
                  <a:schemeClr val="accent6"/>
                </a:solidFill>
                <a:sym typeface="+mn-ea"/>
              </a:rPr>
              <a:t>参考阅读</a:t>
            </a:r>
            <a:r>
              <a:rPr lang="zh-CN" altLang="en-US" sz="2000" dirty="0">
                <a:sym typeface="+mn-ea"/>
              </a:rPr>
              <a:t>：组学课题、作图与文稿设计</a:t>
            </a:r>
            <a:r>
              <a:rPr lang="en-US" altLang="zh-CN" sz="2000" dirty="0">
                <a:sym typeface="+mn-ea"/>
                <a:hlinkClick r:id="rId3"/>
              </a:rPr>
              <a:t>https://share.weiyun.com/HTe8f2ey</a:t>
            </a:r>
            <a:endParaRPr lang="zh-CN" altLang="en-US" sz="2000" dirty="0"/>
          </a:p>
          <a:p>
            <a:pPr>
              <a:spcBef>
                <a:spcPts val="0"/>
              </a:spcBef>
            </a:pPr>
            <a:endParaRPr lang="en-US" altLang="zh-CN" sz="2200" dirty="0"/>
          </a:p>
          <a:p>
            <a:pPr>
              <a:spcBef>
                <a:spcPts val="0"/>
              </a:spcBef>
            </a:pPr>
            <a:endParaRPr lang="en-US" altLang="zh-CN" sz="2000" dirty="0"/>
          </a:p>
          <a:p>
            <a:pPr>
              <a:spcBef>
                <a:spcPts val="0"/>
              </a:spcBef>
            </a:pP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书面报告提交（</a:t>
            </a:r>
            <a:r>
              <a:rPr lang="en-US" altLang="zh-CN" dirty="0"/>
              <a:t>30%</a:t>
            </a:r>
            <a:r>
              <a:rPr lang="zh-CN" altLang="en-US" dirty="0"/>
              <a:t>课程成绩）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143000"/>
            <a:ext cx="8458200" cy="5370009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endParaRPr lang="en-US" altLang="zh-CN" sz="2400" b="1" dirty="0">
              <a:solidFill>
                <a:srgbClr val="C00000"/>
              </a:solidFill>
            </a:endParaRPr>
          </a:p>
          <a:p>
            <a:pPr>
              <a:spcBef>
                <a:spcPts val="0"/>
              </a:spcBef>
            </a:pPr>
            <a:r>
              <a:rPr lang="zh-CN" altLang="en-US" sz="2000" dirty="0"/>
              <a:t>提交（</a:t>
            </a:r>
            <a:r>
              <a:rPr lang="en-US" altLang="zh-CN" sz="2000" dirty="0"/>
              <a:t>1</a:t>
            </a:r>
            <a:r>
              <a:rPr lang="zh-CN" altLang="en-US" sz="2000" dirty="0"/>
              <a:t>）数据分析代码，（</a:t>
            </a:r>
            <a:r>
              <a:rPr lang="en-US" altLang="zh-CN" sz="2000" dirty="0"/>
              <a:t>2</a:t>
            </a:r>
            <a:r>
              <a:rPr lang="zh-CN" altLang="en-US" sz="2000" dirty="0"/>
              <a:t>）中文分析报告（</a:t>
            </a:r>
            <a:r>
              <a:rPr lang="en-US" altLang="zh-CN" sz="2000" dirty="0"/>
              <a:t>8-10</a:t>
            </a:r>
            <a:r>
              <a:rPr lang="zh-CN" altLang="en-US" sz="2000" dirty="0"/>
              <a:t>页</a:t>
            </a:r>
            <a:r>
              <a:rPr lang="en-US" altLang="zh-CN" sz="2000" dirty="0"/>
              <a:t>PDF</a:t>
            </a:r>
            <a:r>
              <a:rPr lang="zh-CN" altLang="en-US" sz="2000" dirty="0"/>
              <a:t>文件）</a:t>
            </a:r>
            <a:endParaRPr lang="en-US" altLang="zh-CN" sz="2000" dirty="0"/>
          </a:p>
          <a:p>
            <a:pPr>
              <a:spcBef>
                <a:spcPts val="0"/>
              </a:spcBef>
            </a:pP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zh-CN" altLang="en-US" sz="2000" dirty="0"/>
              <a:t>报告中包括生物问题、数据描述（来源链接）、分析和作图结果、对结果的生物意义的解读、自己做的图表与原始文献中的图表的比较等内容</a:t>
            </a:r>
          </a:p>
          <a:p>
            <a:pPr>
              <a:spcBef>
                <a:spcPts val="0"/>
              </a:spcBef>
            </a:pP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zh-CN" altLang="en-US" sz="2000" dirty="0">
                <a:sym typeface="+mn-ea"/>
              </a:rPr>
              <a:t>作者信息中包括</a:t>
            </a:r>
            <a:r>
              <a:rPr lang="zh-CN" altLang="en-US" sz="2000" b="1" dirty="0">
                <a:sym typeface="+mn-ea"/>
              </a:rPr>
              <a:t>课题成员</a:t>
            </a:r>
            <a:r>
              <a:rPr lang="zh-CN" altLang="en-US" sz="2000" dirty="0">
                <a:sym typeface="+mn-ea"/>
              </a:rPr>
              <a:t>的姓名、学院和学号，注明组长。</a:t>
            </a:r>
            <a:r>
              <a:rPr lang="zh-CN" altLang="en-US" sz="2000" dirty="0">
                <a:solidFill>
                  <a:srgbClr val="7030A0"/>
                </a:solidFill>
                <a:sym typeface="+mn-ea"/>
              </a:rPr>
              <a:t>说明课题成员的分工计划。</a:t>
            </a:r>
            <a:endParaRPr lang="en-US" altLang="zh-CN" sz="2000" dirty="0">
              <a:solidFill>
                <a:srgbClr val="7030A0"/>
              </a:solidFill>
              <a:sym typeface="+mn-ea"/>
            </a:endParaRPr>
          </a:p>
          <a:p>
            <a:pPr>
              <a:spcBef>
                <a:spcPts val="0"/>
              </a:spcBef>
            </a:pP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zh-CN" altLang="en-US" sz="2000" dirty="0"/>
              <a:t>将上述文件打包成</a:t>
            </a:r>
            <a:r>
              <a:rPr lang="en-US" altLang="zh-CN" sz="2000" dirty="0"/>
              <a:t>zip</a:t>
            </a:r>
            <a:r>
              <a:rPr lang="zh-CN" altLang="en-US" sz="2000" dirty="0"/>
              <a:t>格式压缩包，发送至助教邮箱（</a:t>
            </a:r>
            <a:r>
              <a:rPr lang="en-US" altLang="zh-CN" sz="2000" dirty="0"/>
              <a:t>2401110558@stu.pku.edu.cn)</a:t>
            </a:r>
            <a:r>
              <a:rPr lang="zh-CN" altLang="en-US" sz="2000" dirty="0"/>
              <a:t>，文档名称、压缩包名称和邮件主题均统一为</a:t>
            </a:r>
            <a:r>
              <a:rPr lang="en-US" altLang="zh-CN" sz="2000" dirty="0"/>
              <a:t>“</a:t>
            </a:r>
            <a:r>
              <a:rPr lang="zh-CN" altLang="en-US" sz="2000" dirty="0"/>
              <a:t>组长学号</a:t>
            </a:r>
            <a:r>
              <a:rPr lang="en-US" altLang="zh-CN" sz="2000" dirty="0"/>
              <a:t>+</a:t>
            </a:r>
            <a:r>
              <a:rPr lang="zh-CN" altLang="en-US" sz="2000" dirty="0"/>
              <a:t>姓名</a:t>
            </a:r>
            <a:r>
              <a:rPr lang="en-US" altLang="zh-CN" sz="2000" dirty="0"/>
              <a:t>+</a:t>
            </a:r>
            <a:r>
              <a:rPr lang="zh-CN" altLang="en-US" sz="2000" dirty="0"/>
              <a:t>大作业</a:t>
            </a:r>
            <a:r>
              <a:rPr lang="en-US" altLang="zh-CN" sz="2000" dirty="0"/>
              <a:t>”</a:t>
            </a:r>
            <a:r>
              <a:rPr lang="zh-CN" altLang="en-US" sz="2000" dirty="0"/>
              <a:t>，如：</a:t>
            </a:r>
            <a:r>
              <a:rPr lang="en-US" altLang="zh-CN" sz="2000" dirty="0"/>
              <a:t>1601110101+</a:t>
            </a:r>
            <a:r>
              <a:rPr lang="zh-CN" altLang="en-US" sz="2000" dirty="0"/>
              <a:t>张三</a:t>
            </a:r>
            <a:r>
              <a:rPr lang="en-US" altLang="zh-CN" sz="2000" dirty="0"/>
              <a:t>+</a:t>
            </a:r>
            <a:r>
              <a:rPr lang="zh-CN" altLang="en-US" sz="2000" dirty="0"/>
              <a:t>大作业</a:t>
            </a:r>
          </a:p>
          <a:p>
            <a:pPr>
              <a:spcBef>
                <a:spcPts val="0"/>
              </a:spcBef>
            </a:pPr>
            <a:endParaRPr lang="en-US" altLang="zh-CN" sz="2000" dirty="0"/>
          </a:p>
          <a:p>
            <a:pPr>
              <a:spcBef>
                <a:spcPts val="0"/>
              </a:spcBef>
            </a:pPr>
            <a:r>
              <a:rPr lang="zh-CN" altLang="en-US" sz="2000" dirty="0"/>
              <a:t>作业提交</a:t>
            </a:r>
            <a:r>
              <a:rPr lang="zh-CN" altLang="en-US" sz="2000" b="1" dirty="0"/>
              <a:t>截止时间</a:t>
            </a:r>
            <a:r>
              <a:rPr lang="zh-CN" altLang="en-US" sz="2000" dirty="0"/>
              <a:t>为</a:t>
            </a:r>
            <a:r>
              <a:rPr lang="en-US" altLang="zh-CN" sz="2000" dirty="0">
                <a:solidFill>
                  <a:srgbClr val="7030A0"/>
                </a:solidFill>
              </a:rPr>
              <a:t>2026</a:t>
            </a:r>
            <a:r>
              <a:rPr lang="zh-CN" altLang="en-US" sz="2000" dirty="0">
                <a:solidFill>
                  <a:srgbClr val="7030A0"/>
                </a:solidFill>
              </a:rPr>
              <a:t>年</a:t>
            </a:r>
            <a:r>
              <a:rPr lang="en-US" altLang="zh-CN" sz="2000" dirty="0">
                <a:solidFill>
                  <a:srgbClr val="7030A0"/>
                </a:solidFill>
              </a:rPr>
              <a:t>1</a:t>
            </a:r>
            <a:r>
              <a:rPr lang="zh-CN" altLang="en-US" sz="2000" dirty="0">
                <a:solidFill>
                  <a:srgbClr val="7030A0"/>
                </a:solidFill>
              </a:rPr>
              <a:t>月</a:t>
            </a:r>
            <a:r>
              <a:rPr lang="en-US" altLang="zh-CN" sz="2000" dirty="0">
                <a:solidFill>
                  <a:srgbClr val="7030A0"/>
                </a:solidFill>
              </a:rPr>
              <a:t>10</a:t>
            </a:r>
            <a:r>
              <a:rPr lang="zh-CN" altLang="en-US" sz="2000" dirty="0">
                <a:solidFill>
                  <a:srgbClr val="7030A0"/>
                </a:solidFill>
              </a:rPr>
              <a:t>日</a:t>
            </a:r>
            <a:r>
              <a:rPr lang="en-US" altLang="zh-CN" sz="2000" dirty="0">
                <a:solidFill>
                  <a:srgbClr val="7030A0"/>
                </a:solidFill>
              </a:rPr>
              <a:t>24:00</a:t>
            </a:r>
            <a:r>
              <a:rPr lang="zh-CN" altLang="en-US" sz="2000" dirty="0">
                <a:solidFill>
                  <a:srgbClr val="7030A0"/>
                </a:solidFill>
              </a:rPr>
              <a:t>之前</a:t>
            </a:r>
            <a:r>
              <a:rPr lang="zh-CN" altLang="en-US" sz="2000" dirty="0"/>
              <a:t>。</a:t>
            </a:r>
          </a:p>
          <a:p>
            <a:pPr>
              <a:spcBef>
                <a:spcPts val="0"/>
              </a:spcBef>
            </a:pPr>
            <a:endParaRPr lang="zh-CN" altLang="en-US" sz="2000" dirty="0"/>
          </a:p>
          <a:p>
            <a:pPr>
              <a:spcBef>
                <a:spcPts val="0"/>
              </a:spcBef>
            </a:pPr>
            <a:r>
              <a:rPr lang="zh-CN" altLang="en-US" sz="2000" dirty="0"/>
              <a:t>鼓励与课程教师、助教、同学交流讨论，</a:t>
            </a:r>
            <a:r>
              <a:rPr lang="zh-CN" altLang="en-US" sz="2000" b="1" dirty="0"/>
              <a:t>严禁照搬他人作业或</a:t>
            </a:r>
            <a:r>
              <a:rPr lang="en-US" altLang="zh-CN" sz="2000" b="1" dirty="0"/>
              <a:t>AI</a:t>
            </a:r>
            <a:r>
              <a:rPr lang="zh-CN" altLang="en-US" sz="2000" b="1" dirty="0"/>
              <a:t>生成内容。</a:t>
            </a:r>
            <a:endParaRPr lang="zh-CN" altLang="en-US" sz="18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书面报告评分标准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411791"/>
            <a:ext cx="8458200" cy="483660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C00000"/>
                </a:solidFill>
              </a:rPr>
              <a:t>报告分数分配百分比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sz="2000" b="1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文献和数据的选择、对文献内容的理解：</a:t>
            </a:r>
            <a:r>
              <a:rPr lang="en-US" altLang="zh-CN" sz="2000" dirty="0"/>
              <a:t>10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分析代码的完整性、分析思路的科学性：</a:t>
            </a:r>
            <a:r>
              <a:rPr lang="en-US" altLang="zh-CN" sz="2000" dirty="0"/>
              <a:t>20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分析代码的可读性：</a:t>
            </a:r>
            <a:r>
              <a:rPr lang="en-US" altLang="zh-CN" sz="2000" dirty="0"/>
              <a:t>10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分析代码的正确性和算法效率：</a:t>
            </a:r>
            <a:r>
              <a:rPr lang="en-US" altLang="zh-CN" sz="2000" dirty="0"/>
              <a:t>10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分析报告内容翔实：</a:t>
            </a:r>
            <a:r>
              <a:rPr lang="en-US" altLang="zh-CN" sz="2000" dirty="0"/>
              <a:t>20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自己做的图表质量、与原文图表的比较：</a:t>
            </a:r>
            <a:r>
              <a:rPr lang="en-US" altLang="zh-CN" sz="2000" dirty="0"/>
              <a:t>20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分析报告内容有创新发现：</a:t>
            </a:r>
            <a:r>
              <a:rPr lang="en-US" altLang="zh-CN" sz="2000" dirty="0"/>
              <a:t>10</a:t>
            </a:r>
          </a:p>
          <a:p>
            <a:endParaRPr lang="zh-CN" altLang="en-US" sz="18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/>
              <a:t>数据来源举例：</a:t>
            </a:r>
            <a:r>
              <a:rPr lang="zh-CN" altLang="en-US" sz="2800" b="0" i="0" dirty="0">
                <a:effectLst/>
                <a:latin typeface="system-ui"/>
              </a:rPr>
              <a:t>人类脑疾病的多组学数据资源</a:t>
            </a:r>
            <a:endParaRPr lang="zh-CN" altLang="en-US" sz="2800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44051"/>
            <a:ext cx="8229600" cy="3904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28800" y="6324600"/>
            <a:ext cx="624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hlinkClick r:id="rId3"/>
              </a:rPr>
              <a:t>https://mp.weixin.qq.com/s/g9olqJpaSxw2cBR32m_Gtg</a:t>
            </a:r>
            <a:r>
              <a:rPr lang="zh-CN" altLang="en-US" sz="1600" dirty="0"/>
              <a:t> 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公共数据使用举例</a:t>
            </a: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" y="1036637"/>
            <a:ext cx="5834546" cy="5059363"/>
          </a:xfrm>
        </p:spPr>
      </p:pic>
      <p:sp>
        <p:nvSpPr>
          <p:cNvPr id="5" name="文本框 4"/>
          <p:cNvSpPr txBox="1"/>
          <p:nvPr/>
        </p:nvSpPr>
        <p:spPr>
          <a:xfrm>
            <a:off x="1371600" y="6172200"/>
            <a:ext cx="6477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/>
              <a:t>Nature 22 A human brain vascular atlas reveals diverse mediators of Alzheimer's risk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562600" y="1905000"/>
            <a:ext cx="3581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/>
              <a:t>这篇文章的图6利用公共蛋白染色图片（human protein atlas数据库）验证细胞类型特异表达的marker基因</a:t>
            </a: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/>
              <a:t>b</a:t>
            </a:r>
            <a:r>
              <a:rPr lang="en-US" altLang="zh-CN" sz="1600" dirty="0"/>
              <a:t>, Immunohistochemical confirmation of the vascular localization of proteins encoded by top AD GWAS genes from a. Scale bars, 25 </a:t>
            </a:r>
            <a:r>
              <a:rPr lang="el-GR" altLang="zh-CN" sz="1600" dirty="0"/>
              <a:t>μ</a:t>
            </a:r>
            <a:r>
              <a:rPr lang="en-US" altLang="zh-CN" sz="1600" dirty="0"/>
              <a:t>m. </a:t>
            </a:r>
            <a:r>
              <a:rPr lang="en-US" altLang="zh-CN" sz="1600" dirty="0">
                <a:solidFill>
                  <a:srgbClr val="7030A0"/>
                </a:solidFill>
              </a:rPr>
              <a:t>Arrowheads in APOE point to signal around larger-diameter vessels, consistent with SMC expression</a:t>
            </a:r>
            <a:r>
              <a:rPr lang="en-US" altLang="zh-CN" sz="1600" dirty="0"/>
              <a:t>. Image credit: Human Protein Atlas (</a:t>
            </a:r>
            <a:r>
              <a:rPr lang="en-US" altLang="zh-CN" sz="1600" dirty="0">
                <a:hlinkClick r:id="rId3"/>
              </a:rPr>
              <a:t>http://www.proteinatlas.org</a:t>
            </a:r>
            <a:r>
              <a:rPr lang="en-US" altLang="zh-CN" sz="1600" dirty="0"/>
              <a:t>) .</a:t>
            </a:r>
            <a:endParaRPr lang="zh-CN" altLang="en-US" sz="16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多组学数据</a:t>
            </a:r>
            <a:r>
              <a:rPr lang="zh-CN" altLang="en-US" b="1" dirty="0">
                <a:solidFill>
                  <a:srgbClr val="7030A0"/>
                </a:solidFill>
                <a:sym typeface="+mn-ea"/>
              </a:rPr>
              <a:t>比较与关联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6675"/>
            <a:ext cx="7818120" cy="4789805"/>
          </a:xfrm>
        </p:spPr>
        <p:txBody>
          <a:bodyPr/>
          <a:lstStyle/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/>
              <a:t>生物问题</a:t>
            </a:r>
            <a:r>
              <a:rPr lang="zh-CN" altLang="en-US" sz="2400" dirty="0"/>
              <a:t>：正常</a:t>
            </a:r>
            <a:r>
              <a:rPr lang="en-US" altLang="zh-CN" sz="2400" dirty="0"/>
              <a:t>vs.</a:t>
            </a:r>
            <a:r>
              <a:rPr lang="zh-CN" altLang="en-US" sz="2400" dirty="0"/>
              <a:t>疾病，年轻</a:t>
            </a:r>
            <a:r>
              <a:rPr lang="en-US" altLang="zh-CN" sz="2400" dirty="0"/>
              <a:t>vs.</a:t>
            </a:r>
            <a:r>
              <a:rPr lang="zh-CN" altLang="en-US" sz="2400" dirty="0"/>
              <a:t>衰老，不同发育时间点，跨物种</a:t>
            </a:r>
            <a:endParaRPr lang="en-US" altLang="zh-CN" sz="2400" dirty="0"/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/>
              <a:t>变化层面</a:t>
            </a:r>
            <a:r>
              <a:rPr lang="zh-CN" altLang="en-US" sz="2400" dirty="0"/>
              <a:t>：表达差异，细胞亚群比例变化，细胞通信</a:t>
            </a:r>
            <a:endParaRPr lang="en-US" altLang="zh-CN" sz="2400" dirty="0"/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/>
              <a:t>多组学、多模态</a:t>
            </a:r>
            <a:r>
              <a:rPr lang="zh-CN" altLang="en-US" sz="2400" dirty="0"/>
              <a:t>：</a:t>
            </a:r>
            <a:r>
              <a:rPr lang="en-US" altLang="zh-CN" sz="2400" dirty="0"/>
              <a:t>TF motif</a:t>
            </a:r>
            <a:r>
              <a:rPr lang="zh-CN" altLang="en-US" sz="2400" dirty="0"/>
              <a:t>的开放性变化作为转录变化的</a:t>
            </a:r>
            <a:r>
              <a:rPr lang="zh-CN" altLang="en-US" sz="2400" dirty="0">
                <a:solidFill>
                  <a:srgbClr val="7030A0"/>
                </a:solidFill>
              </a:rPr>
              <a:t>上游机制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2400" b="1" dirty="0"/>
              <a:t>关联人类疾病</a:t>
            </a:r>
            <a:r>
              <a:rPr lang="zh-CN" altLang="en-US" sz="2400" dirty="0"/>
              <a:t>：差异基因</a:t>
            </a:r>
            <a:r>
              <a:rPr lang="en-US" altLang="zh-CN" sz="2400" dirty="0"/>
              <a:t>/</a:t>
            </a:r>
            <a:r>
              <a:rPr lang="zh-CN" altLang="en-US" sz="2400" dirty="0"/>
              <a:t>位点是否富集疾病</a:t>
            </a:r>
            <a:r>
              <a:rPr lang="en-US" altLang="zh-CN" sz="2400" dirty="0"/>
              <a:t>GWAS</a:t>
            </a:r>
            <a:r>
              <a:rPr lang="zh-CN" altLang="en-US" sz="2400" dirty="0"/>
              <a:t>位点</a:t>
            </a:r>
            <a:r>
              <a:rPr lang="zh-CN" altLang="en-US" sz="2400" dirty="0">
                <a:sym typeface="+mn-ea"/>
              </a:rPr>
              <a:t>？</a:t>
            </a:r>
            <a:r>
              <a:rPr lang="zh-CN" altLang="en-US" sz="2400" dirty="0"/>
              <a:t>组学数据能否预测病人的药物响应或生存时间？</a:t>
            </a: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DDDDDD"/>
        </a:solidFill>
        <a:ln w="9525" cap="flat" cmpd="sng" algn="ctr">
          <a:solidFill>
            <a:schemeClr val="tx1">
              <a:alpha val="73000"/>
            </a:schemeClr>
          </a:solidFill>
          <a:prstDash val="solid"/>
          <a:round/>
          <a:headEnd type="none" w="med" len="med"/>
          <a:tailEnd type="none" w="med" len="med"/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no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60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941</Words>
  <Application>Microsoft Macintosh PowerPoint</Application>
  <PresentationFormat>全屏显示(4:3)</PresentationFormat>
  <Paragraphs>62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方正兰亭黑简体</vt:lpstr>
      <vt:lpstr>system-ui</vt:lpstr>
      <vt:lpstr>Arial</vt:lpstr>
      <vt:lpstr>Default Design</vt:lpstr>
      <vt:lpstr>课程大作业布置：任务与目标</vt:lpstr>
      <vt:lpstr>组队与口头报告 </vt:lpstr>
      <vt:lpstr>书面报告提交（30%课程成绩）</vt:lpstr>
      <vt:lpstr>书面报告评分标准</vt:lpstr>
      <vt:lpstr>数据来源举例：人类脑疾病的多组学数据资源</vt:lpstr>
      <vt:lpstr>公共数据使用举例</vt:lpstr>
      <vt:lpstr>多组学数据比较与关联举例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cli</dc:creator>
  <cp:lastModifiedBy>office user</cp:lastModifiedBy>
  <cp:revision>363</cp:revision>
  <cp:lastPrinted>2113-01-01T00:00:00Z</cp:lastPrinted>
  <dcterms:created xsi:type="dcterms:W3CDTF">2113-01-01T00:00:00Z</dcterms:created>
  <dcterms:modified xsi:type="dcterms:W3CDTF">2025-11-27T06:44:37Z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C5A05E3570A84B9EA61953DC847FF72C_12</vt:lpwstr>
  </property>
  <property fmtid="{D5CDD505-2E9C-101B-9397-08002B2CF9AE}" pid="4" name="KSOProductBuildVer">
    <vt:lpwstr>2052-12.1.0.23542</vt:lpwstr>
  </property>
</Properties>
</file>